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Yu Gothic"/>
              </a:rPr>
              <a:t>外部AI利用インシデント報告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Yu Gothic"/>
              </a:rPr>
              <a:t>2026年Q1レビュー / 情報セキュリティ統括室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Yu Gothic"/>
              </a:rPr>
              <a:t>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latin typeface="Yu Gothic"/>
              </a:rPr>
              <a:t>対象期間: 2026-01-01 - 2026-03-31</a:t>
            </a:r>
          </a:p>
          <a:p>
            <a:pPr>
              <a:defRPr sz="2000"/>
            </a:pPr>
            <a:r>
              <a:rPr>
                <a:latin typeface="Yu Gothic"/>
              </a:rPr>
              <a:t>検知件数: 14件、うち重大度Highは3件</a:t>
            </a:r>
          </a:p>
          <a:p>
            <a:pPr>
              <a:defRPr sz="2000"/>
            </a:pPr>
            <a:r>
              <a:rPr>
                <a:latin typeface="Yu Gothic"/>
              </a:rPr>
              <a:t>主な原因: 匿名化前の資料要約、議事録AIの自動アップロード設定</a:t>
            </a:r>
          </a:p>
          <a:p>
            <a:pPr>
              <a:defRPr sz="2000"/>
            </a:pPr>
            <a:r>
              <a:rPr>
                <a:latin typeface="Yu Gothic"/>
              </a:rPr>
              <a:t>再発防止テーマ: 申請前チェックリスト、DLP検知、教育受講率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Yu Gothic"/>
              </a:rPr>
              <a:t>重大度別の傾向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78638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</a:tblGrid>
              <a:tr h="402336">
                <a:tc>
                  <a:txBody>
                    <a:bodyPr/>
                    <a:lstStyle/>
                    <a:p>
                      <a:r>
                        <a:t>重大度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件数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代表例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推奨対応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認証情報送信はなし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監視継続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未公表資料を外部AIに要約依頼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1時間以内にセキュリティ窓口へ報告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匿名化不足の議事録投入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部門管理者が再教育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利用目的の記録漏れ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月次棚卸しで是正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Yu Gothic"/>
              </a:rPr>
              <a:t>ケースA: 議事録AIの自動アップロード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3749039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>
                <a:latin typeface="Yu Gothic"/>
              </a:rPr>
              <a:t>会議終了後、議事録AIが録音と参加者名を外部クラウドへ自動送信</a:t>
            </a:r>
          </a:p>
          <a:p>
            <a:pPr>
              <a:defRPr sz="2000"/>
            </a:pPr>
            <a:r>
              <a:rPr>
                <a:latin typeface="Yu Gothic"/>
              </a:rPr>
              <a:t>参加者名と顧客名が含まれていたため個人情報扱い</a:t>
            </a:r>
          </a:p>
          <a:p>
            <a:pPr>
              <a:defRPr sz="2000"/>
            </a:pPr>
            <a:r>
              <a:rPr>
                <a:latin typeface="Yu Gothic"/>
              </a:rPr>
              <a:t>DLPアラートで検知、45分後にセキュリティ窓口へ報告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188720"/>
            <a:ext cx="36576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>
                <a:latin typeface="Yu Gothic"/>
              </a:rPr>
              <a:t>注意点: 自動アップロード設定は申請前に無効化する</a:t>
            </a:r>
          </a:p>
          <a:p>
            <a:pPr>
              <a:defRPr sz="2000"/>
            </a:pPr>
            <a:r>
              <a:rPr>
                <a:latin typeface="Yu Gothic"/>
              </a:rPr>
              <a:t>注意点: 参加者名、顧客名、録音URLは外部AIへ入力しない</a:t>
            </a:r>
          </a:p>
          <a:p>
            <a:pPr>
              <a:defRPr sz="2000"/>
            </a:pPr>
            <a:r>
              <a:rPr>
                <a:latin typeface="Yu Gothic"/>
              </a:rPr>
              <a:t>発表者ノート: 研修では設定画面のスクリーンショットを見せる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Yu Gothic"/>
              </a:rPr>
              <a:t>設定画面スクリーンショット</a:t>
            </a:r>
          </a:p>
        </p:txBody>
      </p:sp>
      <p:pic>
        <p:nvPicPr>
          <p:cNvPr id="3" name="Picture 2" descr="meeting_ai_settings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0"/>
            <a:ext cx="7589520" cy="45537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89788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latin typeface="Yu Gothic"/>
              </a:rPr>
              <a:t>画像内の注意点: 自動保存ON、参加者名ON、顧客名伏せ字OFF、AI-REQ-17未申請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Yu Gothic"/>
              </a:rPr>
              <a:t>再発防止アクション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latin typeface="Yu Gothic"/>
              </a:rPr>
              <a:t>申請フォーム AI-REQ-17 に入力禁止情報チェックを追加</a:t>
            </a:r>
          </a:p>
          <a:p>
            <a:pPr>
              <a:defRPr sz="2000"/>
            </a:pPr>
            <a:r>
              <a:rPr>
                <a:latin typeface="Yu Gothic"/>
              </a:rPr>
              <a:t>High以上はセキュリティ窓口への1時間以内連絡を必須化</a:t>
            </a:r>
          </a:p>
          <a:p>
            <a:pPr>
              <a:defRPr sz="2000"/>
            </a:pPr>
            <a:r>
              <a:rPr>
                <a:latin typeface="Yu Gothic"/>
              </a:rPr>
              <a:t>部門管理者は月次で外部AI利用ログを棚卸し</a:t>
            </a:r>
          </a:p>
          <a:p>
            <a:pPr>
              <a:defRPr sz="2000"/>
            </a:pPr>
            <a:r>
              <a:rPr>
                <a:latin typeface="Yu Gothic"/>
              </a:rPr>
              <a:t>教育完了率が90%未満の部門は翌月の利用申請を一時保留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